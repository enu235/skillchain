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5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8DCEB"/>
                </a:solidFill>
                <a:latin typeface="Calibri"/>
              </a:rPr>
              <a:t>RESEARCH BRIEFING  ·  TSLA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Deep Stock Research with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Claude Code/SDK + a Local LLM</a:t>
            </a:r>
          </a:p>
          <a:p>
            <a:pPr>
              <a:spcBef>
                <a:spcPts val="1000"/>
              </a:spcBef>
            </a:pPr>
            <a:r>
              <a:rPr sz="2200" i="1">
                <a:solidFill>
                  <a:srgbClr val="C8DCEB"/>
                </a:solidFill>
                <a:latin typeface="Calibri"/>
              </a:rPr>
              <a:t>A TSLA case study for developers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2011680" cy="20000"/>
          </a:xfrm>
          <a:prstGeom prst="rect">
            <a:avLst/>
          </a:prstGeom>
          <a:solidFill>
            <a:srgbClr val="C85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2026-05-03</a:t>
            </a:r>
          </a:p>
          <a:p>
            <a:r>
              <a:rPr sz="1100" i="1">
                <a:solidFill>
                  <a:srgbClr val="A9C1D9"/>
                </a:solidFill>
                <a:latin typeface="Calibri"/>
              </a:rPr>
              <a:t>Audience: developers building research workflows  ·  run-20260503-210828-f48e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5303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8"/>
                </a:solidFill>
                <a:latin typeface="Calibri"/>
              </a:rPr>
              <a:t>■  </a:t>
            </a:r>
            <a:r>
              <a:rPr sz="1800">
                <a:solidFill>
                  <a:srgbClr val="1A1A1A"/>
                </a:solidFill>
                <a:latin typeface="Calibri"/>
              </a:rPr>
              <a:t>Claude Code is a research-grade CLI: subagents, skills, hooks, MCP, plan mode, 1M-token context.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8"/>
                </a:solidFill>
                <a:latin typeface="Calibri"/>
              </a:rPr>
              <a:t>■  </a:t>
            </a:r>
            <a:r>
              <a:rPr sz="1800">
                <a:solidFill>
                  <a:srgbClr val="1A1A1A"/>
                </a:solidFill>
                <a:latin typeface="Calibri"/>
              </a:rPr>
              <a:t>The Agent SDK exposes the same loop programmatically (Python + TS); custom @tool MCP servers ship in-process.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8"/>
                </a:solidFill>
                <a:latin typeface="Calibri"/>
              </a:rPr>
              <a:t>■  </a:t>
            </a:r>
            <a:r>
              <a:rPr sz="1800">
                <a:solidFill>
                  <a:srgbClr val="1A1A1A"/>
                </a:solidFill>
                <a:latin typeface="Calibri"/>
              </a:rPr>
              <a:t>TSLA workflow has four stages: SEC EDGAR ingest, market data, news/sentiment, then frameworks and a bull/base/bear memo.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8"/>
                </a:solidFill>
                <a:latin typeface="Calibri"/>
              </a:rPr>
              <a:t>■  </a:t>
            </a:r>
            <a:r>
              <a:rPr sz="1800">
                <a:solidFill>
                  <a:srgbClr val="1A1A1A"/>
                </a:solidFill>
                <a:latin typeface="Calibri"/>
              </a:rPr>
              <a:t>Local LLMs (Ollama, LM Studio, llama.cpp) speak OpenAI- and Anthropic-compatible APIs — a 70B model fits in ~46 GB VRAM.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8"/>
                </a:solidFill>
                <a:latin typeface="Calibri"/>
              </a:rPr>
              <a:t>■  </a:t>
            </a:r>
            <a:r>
              <a:rPr sz="1800">
                <a:solidFill>
                  <a:srgbClr val="1A1A1A"/>
                </a:solidFill>
                <a:latin typeface="Calibri"/>
              </a:rPr>
              <a:t>Hybrid pattern: Claude Opus plans/critics, local 8B-22B does bulk work; MCP is the spine, files are the state.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8"/>
                </a:solidFill>
                <a:latin typeface="Calibri"/>
              </a:rPr>
              <a:t>■  </a:t>
            </a:r>
            <a:r>
              <a:rPr sz="1800">
                <a:solidFill>
                  <a:srgbClr val="1A1A1A"/>
                </a:solidFill>
                <a:latin typeface="Calibri"/>
              </a:rPr>
              <a:t>Anti-hallucination is non-negotiable in finance: tool-grounded RAG cuts the 41% ungrounded error rate by 60-80%.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Audience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Calibri"/>
              </a:rPr>
              <a:t>WHO THIS IS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6692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8"/>
                </a:solidFill>
                <a:latin typeface="Calibri"/>
              </a:rPr>
              <a:t>■  </a:t>
            </a:r>
            <a:r>
              <a:rPr sz="1600">
                <a:solidFill>
                  <a:srgbClr val="1A1A1A"/>
                </a:solidFill>
                <a:latin typeface="Calibri"/>
              </a:rPr>
              <a:t>Developers who already use Claude Code daily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8"/>
                </a:solidFill>
                <a:latin typeface="Calibri"/>
              </a:rPr>
              <a:t>■  </a:t>
            </a:r>
            <a:r>
              <a:rPr sz="1600">
                <a:solidFill>
                  <a:srgbClr val="1A1A1A"/>
                </a:solidFill>
                <a:latin typeface="Calibri"/>
              </a:rPr>
              <a:t>Quant-curious engineers exploring agentic research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8"/>
                </a:solidFill>
                <a:latin typeface="Calibri"/>
              </a:rPr>
              <a:t>■  </a:t>
            </a:r>
            <a:r>
              <a:rPr sz="1600">
                <a:solidFill>
                  <a:srgbClr val="1A1A1A"/>
                </a:solidFill>
                <a:latin typeface="Calibri"/>
              </a:rPr>
              <a:t>Builders running on-device LLMs alongside cloud APIs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8"/>
                </a:solidFill>
                <a:latin typeface="Calibri"/>
              </a:rPr>
              <a:t>■  </a:t>
            </a:r>
            <a:r>
              <a:rPr sz="1600">
                <a:solidFill>
                  <a:srgbClr val="1A1A1A"/>
                </a:solidFill>
                <a:latin typeface="Calibri"/>
              </a:rPr>
              <a:t>Teams cost-optimizing premium reasoning vs bulk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Calibri"/>
              </a:rPr>
              <a:t>WHAT WE 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8"/>
                </a:solidFill>
                <a:latin typeface="Calibri"/>
              </a:rPr>
              <a:t>■  </a:t>
            </a:r>
            <a:r>
              <a:rPr sz="1600">
                <a:solidFill>
                  <a:srgbClr val="1A1A1A"/>
                </a:solidFill>
                <a:latin typeface="Calibri"/>
              </a:rPr>
              <a:t>Claude Code CLI surfaces: subagents, skills, hooks, MCP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8"/>
                </a:solidFill>
                <a:latin typeface="Calibri"/>
              </a:rPr>
              <a:t>■  </a:t>
            </a:r>
            <a:r>
              <a:rPr sz="1600">
                <a:solidFill>
                  <a:srgbClr val="1A1A1A"/>
                </a:solidFill>
                <a:latin typeface="Calibri"/>
              </a:rPr>
              <a:t>Claude Agent SDK: query(), ClaudeSDKClient, custom tools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8"/>
                </a:solidFill>
                <a:latin typeface="Calibri"/>
              </a:rPr>
              <a:t>■  </a:t>
            </a:r>
            <a:r>
              <a:rPr sz="1600">
                <a:solidFill>
                  <a:srgbClr val="1A1A1A"/>
                </a:solidFill>
                <a:latin typeface="Calibri"/>
              </a:rPr>
              <a:t>End-to-end TSLA research pipeline (sources -&gt; memo)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8"/>
                </a:solidFill>
                <a:latin typeface="Calibri"/>
              </a:rPr>
              <a:t>■  </a:t>
            </a:r>
            <a:r>
              <a:rPr sz="1600">
                <a:solidFill>
                  <a:srgbClr val="1A1A1A"/>
                </a:solidFill>
                <a:latin typeface="Calibri"/>
              </a:rPr>
              <a:t>Pairing with Ollama / LM Studio / llama.cpp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8"/>
                </a:solidFill>
                <a:latin typeface="Calibri"/>
              </a:rPr>
              <a:t>■  </a:t>
            </a:r>
            <a:r>
              <a:rPr sz="1600">
                <a:solidFill>
                  <a:srgbClr val="1A1A1A"/>
                </a:solidFill>
                <a:latin typeface="Calibri"/>
              </a:rPr>
              <a:t>Hybrid topology, pitfalls, and concrete 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Hybrid Architecture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788920" cy="20116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73152" cy="20116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2514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5A2D"/>
                </a:solidFill>
                <a:latin typeface="Calibri"/>
              </a:rPr>
              <a:t>PLANNER / CRITIC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F4E78"/>
                </a:solidFill>
                <a:latin typeface="Calibri"/>
              </a:rPr>
              <a:t>Claude Opus 4.7 (1M ctx)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A1A1A"/>
                </a:solidFill>
                <a:latin typeface="Calibri"/>
              </a:rPr>
              <a:t>Decomposes the topic, writes plans, reviews drafts, makes the final 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097280"/>
            <a:ext cx="2788920" cy="20116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55848" y="1097280"/>
            <a:ext cx="73152" cy="20116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4440"/>
            <a:ext cx="2514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5A2D"/>
                </a:solidFill>
                <a:latin typeface="Calibri"/>
              </a:rPr>
              <a:t>BULK WORKER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F4E78"/>
                </a:solidFill>
                <a:latin typeface="Calibri"/>
              </a:rPr>
              <a:t>Local LLM (8B-22B, Ollama)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A1A1A"/>
                </a:solidFill>
                <a:latin typeface="Calibri"/>
              </a:rPr>
              <a:t>Summarizes filings, drafts sections, runs overnight iterations cheaply.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097280"/>
            <a:ext cx="2788920" cy="20116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4496" y="1097280"/>
            <a:ext cx="73152" cy="20116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234440"/>
            <a:ext cx="2514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5A2D"/>
                </a:solidFill>
                <a:latin typeface="Calibri"/>
              </a:rPr>
              <a:t>INTEGRATION SPINE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F4E78"/>
                </a:solidFill>
                <a:latin typeface="Calibri"/>
              </a:rPr>
              <a:t>Model Context Protocol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A1A1A"/>
                </a:solidFill>
                <a:latin typeface="Calibri"/>
              </a:rPr>
              <a:t>MCP servers expose tools (SEC, prices, browser, local LLM) to both tiers.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3144" y="1097280"/>
            <a:ext cx="2788920" cy="20116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53144" y="1097280"/>
            <a:ext cx="73152" cy="20116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6024" y="1234440"/>
            <a:ext cx="2514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5A2D"/>
                </a:solidFill>
                <a:latin typeface="Calibri"/>
              </a:rPr>
              <a:t>STATE STORE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1F4E78"/>
                </a:solidFill>
                <a:latin typeface="Calibri"/>
              </a:rPr>
              <a:t>File artifacts + SQLite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A1A1A"/>
                </a:solidFill>
                <a:latin typeface="Calibri"/>
              </a:rPr>
              <a:t>JSON drilldowns, xlsx workbooks, charts — durable handoffs between runs.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8328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Calibri"/>
              </a:rPr>
              <a:t>DATA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49039"/>
            <a:ext cx="1124712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Prompt -&gt; Claude planner decomposes into subtopics; writes drilldown specs.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Subagents fan out: each calls MCP tools (WebFetch, SEC, Polygon, local-LLM).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Local LLM does the bulk read-and-summarize; returns JSON to planner.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Planner critiques, runs outlier detection, then assembles xlsx + pptx artifacts.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Hooks (PreToolUse/PostToolUse) gate tool calls; /loop schedules recurring runs.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Claude Code: research-grade CLI primitives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76656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Subagents isolate context: own tools, prompt, summary-only return.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Built-ins: Explore, Plan, general-purpose. Custom in .claude/agents/.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Skills at .claude/skills/&lt;name&gt;/SKILL.md with YAML frontmatter.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Hooks fire on lifecycle events from settings.json (PreToolUse, etc.).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MCP via 'claude mcp add' over HTTP / stdio / SSE — three scopes.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Plan mode = read-only tools + reviewable plan before any side effect.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09728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Calibri"/>
              </a:rPr>
              <a:t>MCP wiring (claude mcp add)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417320"/>
            <a:ext cx="4297680" cy="42062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# wire an MCP server into the project scope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claude mcp add --scope project sec-edgar \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--transport stdio \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-- python servers/sec_edgar.py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# verify it landed and is reachable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claude mcp list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# inside a session, scope a one-off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/permissions allow Bash:claude mcp call sec-edgar:get_filing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Claude Code: model pricing per 1M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3675" y="105156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3675" y="1188720"/>
            <a:ext cx="233172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3400" b="1">
                <a:solidFill>
                  <a:srgbClr val="1F4E78"/>
                </a:solidFill>
                <a:latin typeface="Calibri"/>
              </a:rPr>
              <a:t>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3675" y="2011680"/>
            <a:ext cx="2331720" cy="64008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context window @ standard pricing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29987" y="105156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29987" y="1188720"/>
            <a:ext cx="233172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3400" b="1">
                <a:solidFill>
                  <a:srgbClr val="1F4E78"/>
                </a:solidFill>
                <a:latin typeface="Calibri"/>
              </a:rPr>
              <a:t>0.1x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9987" y="2011680"/>
            <a:ext cx="2331720" cy="64008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cache-read multiplier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6299" y="105156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6299" y="1188720"/>
            <a:ext cx="233172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3400" b="1">
                <a:solidFill>
                  <a:srgbClr val="1F4E78"/>
                </a:solidFill>
                <a:latin typeface="Calibri"/>
              </a:rPr>
              <a:t>$10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6299" y="2011680"/>
            <a:ext cx="2331720" cy="64008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per 1,000 web searches</a:t>
            </a:r>
          </a:p>
        </p:txBody>
      </p:sp>
      <p:pic>
        <p:nvPicPr>
          <p:cNvPr id="13" name="Picture 12" descr="claude-code-capabilities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647" y="2606040"/>
            <a:ext cx="6502400" cy="3657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309360"/>
            <a:ext cx="111556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100" i="1">
                <a:solidFill>
                  <a:srgbClr val="666666"/>
                </a:solidFill>
                <a:latin typeface="Calibri"/>
              </a:rPr>
              <a:t>Source: platform.claude.com/docs/en/about-claude/pricing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Claude Agent SDK: programmatic research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76656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Official Python (claude-agent-sdk) and TS (@anthropic-ai/claude-agent-sdk).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query() = single-shot async iterator; ClaudeSDKClient = bidirectional.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Custom tools via @tool + create_sdk_mcp_server (in-process MCP).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Streaming opt-in with include_partial_messages -&gt; StreamEvent stream.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Sub-agents via AgentDefinition delegate focused work with own toolsets.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Headless mode + Bedrock/Vertex/Foundry providers ready for CI/CD.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09728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Calibri"/>
              </a:rPr>
              <a:t>query() with custom tools (Python)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417320"/>
            <a:ext cx="4297680" cy="42062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import anyio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from claude_agent_sdk import query, ClaudeAgentOptions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async def main():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opts = ClaudeAgentOptions(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    model='claude-opus-4-7',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    system_prompt='You are a TSLA research analyst.',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    allowed_tools=['WebFetch', 'mcp__sec__get_filing'],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)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async for msg in query(prompt='Brief TSLA Q1 2026', options=opts):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    print(msg)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anyio.run(main)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Agent SDK: prompt-cache cost multipliers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3675" y="105156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3675" y="1188720"/>
            <a:ext cx="233172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3400" b="1">
                <a:solidFill>
                  <a:srgbClr val="1F4E78"/>
                </a:solidFill>
                <a:latin typeface="Calibri"/>
              </a:rPr>
              <a:t>0.1.72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3675" y="2011680"/>
            <a:ext cx="2331720" cy="64008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Python SDK current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29987" y="105156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29987" y="1188720"/>
            <a:ext cx="233172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3400" b="1">
                <a:solidFill>
                  <a:srgbClr val="1F4E78"/>
                </a:solidFill>
                <a:latin typeface="Calibri"/>
              </a:rPr>
              <a:t>0.2.111+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9987" y="2011680"/>
            <a:ext cx="2331720" cy="64008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min for Opus 4.7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6299" y="105156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6299" y="1188720"/>
            <a:ext cx="233172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3400" b="1">
                <a:solidFill>
                  <a:srgbClr val="1F4E78"/>
                </a:solidFill>
                <a:latin typeface="Calibri"/>
              </a:rPr>
              <a:t>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6299" y="2011680"/>
            <a:ext cx="2331720" cy="64008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Batch API discount</a:t>
            </a:r>
          </a:p>
        </p:txBody>
      </p:sp>
      <p:pic>
        <p:nvPicPr>
          <p:cNvPr id="13" name="Picture 12" descr="claude-agent-sdk-ca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647" y="2606040"/>
            <a:ext cx="6502400" cy="3657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309360"/>
            <a:ext cx="111556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100" i="1">
                <a:solidFill>
                  <a:srgbClr val="666666"/>
                </a:solidFill>
                <a:latin typeface="Calibri"/>
              </a:rPr>
              <a:t>Reads cost 0.1x base input; long-TTL writes cost 2x. Source: prompt-caching docs.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TSLA workflow: from EDGAR to memo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24712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4E78"/>
                </a:solidFill>
                <a:latin typeface="Calibri"/>
              </a:rPr>
              <a:t>■  </a:t>
            </a:r>
            <a:r>
              <a:rPr sz="1700">
                <a:solidFill>
                  <a:srgbClr val="1A1A1A"/>
                </a:solidFill>
                <a:latin typeface="Calibri"/>
              </a:rPr>
              <a:t>Stage 1 - Primary disclosures: SEC EDGAR (10-K/10-Q/8-K) + Tesla IR.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4E78"/>
                </a:solidFill>
                <a:latin typeface="Calibri"/>
              </a:rPr>
              <a:t>■  </a:t>
            </a:r>
            <a:r>
              <a:rPr sz="1700">
                <a:solidFill>
                  <a:srgbClr val="1A1A1A"/>
                </a:solidFill>
                <a:latin typeface="Calibri"/>
              </a:rPr>
              <a:t>Stage 2 - Market data: Polygon (prod), Tiingo (EOD), yfinance (proto).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4E78"/>
                </a:solidFill>
                <a:latin typeface="Calibri"/>
              </a:rPr>
              <a:t>■  </a:t>
            </a:r>
            <a:r>
              <a:rPr sz="1700">
                <a:solidFill>
                  <a:srgbClr val="1A1A1A"/>
                </a:solidFill>
                <a:latin typeface="Calibri"/>
              </a:rPr>
              <a:t>Stage 3 - News &amp; sentiment: Finnhub, NewsAPI, social-media scrapers.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4E78"/>
                </a:solidFill>
                <a:latin typeface="Calibri"/>
              </a:rPr>
              <a:t>■  </a:t>
            </a:r>
            <a:r>
              <a:rPr sz="1700">
                <a:solidFill>
                  <a:srgbClr val="1A1A1A"/>
                </a:solidFill>
                <a:latin typeface="Calibri"/>
              </a:rPr>
              <a:t>Stage 4 - Frameworks: fundamentals, technicals, macro, narrative.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4E78"/>
                </a:solidFill>
                <a:latin typeface="Calibri"/>
              </a:rPr>
              <a:t>■  </a:t>
            </a:r>
            <a:r>
              <a:rPr sz="1700">
                <a:solidFill>
                  <a:srgbClr val="1A1A1A"/>
                </a:solidFill>
                <a:latin typeface="Calibri"/>
              </a:rPr>
              <a:t>Outputs: exec summary, price-vs-catalyst chart, fundamentals table, bull/base/bear memo.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4E78"/>
                </a:solidFill>
                <a:latin typeface="Calibri"/>
              </a:rPr>
              <a:t>■  </a:t>
            </a:r>
            <a:r>
              <a:rPr sz="1700">
                <a:solidFill>
                  <a:srgbClr val="1A1A1A"/>
                </a:solidFill>
                <a:latin typeface="Calibri"/>
              </a:rPr>
              <a:t>Event-trigger re-runs on new 8-K filings (e.g., Q1 2026 4/22, deliveries 4/2).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TSLA: analyst-target spread and trading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3675" y="105156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3675" y="1188720"/>
            <a:ext cx="233172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3400" b="1">
                <a:solidFill>
                  <a:srgbClr val="1F4E78"/>
                </a:solidFill>
                <a:latin typeface="Calibri"/>
              </a:rPr>
              <a:t>$22.38B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3675" y="2011680"/>
            <a:ext cx="2331720" cy="64008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Q1 2026 revenue (+16% YoY)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29987" y="105156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29987" y="1188720"/>
            <a:ext cx="233172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3400" b="1">
                <a:solidFill>
                  <a:srgbClr val="1F4E78"/>
                </a:solidFill>
                <a:latin typeface="Calibri"/>
              </a:rPr>
              <a:t>21.1%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9987" y="2011680"/>
            <a:ext cx="2331720" cy="64008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Q1 2026 gross margin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6299" y="105156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6299" y="1188720"/>
            <a:ext cx="233172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3400" b="1">
                <a:solidFill>
                  <a:srgbClr val="1F4E78"/>
                </a:solidFill>
                <a:latin typeface="Calibri"/>
              </a:rPr>
              <a:t>357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6299" y="2011680"/>
            <a:ext cx="2331720" cy="64008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P/E ratio (May 1 2026)</a:t>
            </a:r>
          </a:p>
        </p:txBody>
      </p:sp>
      <p:pic>
        <p:nvPicPr>
          <p:cNvPr id="13" name="Picture 12" descr="tsla-research-workflow-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647" y="2606040"/>
            <a:ext cx="6502400" cy="3657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309360"/>
            <a:ext cx="111556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100" i="1">
                <a:solidFill>
                  <a:srgbClr val="666666"/>
                </a:solidFill>
                <a:latin typeface="Calibri"/>
              </a:rPr>
              <a:t>Bull/bear spread spans roughly +/-50% around the $398 median target.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Local LLMs: Ollama, LM Studio, llama.cpp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76656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Ollama @ :11434, LM Studio @ :1234, llama-server @ :8080.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All speak OpenAI-compat; llama.cpp also speaks Anthropic /v1/messages.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Point Claude Code at Ollama: ANTHROPIC_BASE_URL=http://localhost:11434.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OllamaClaude MCP cuts Anthropic tokens up to ~98.75% on file work.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Routing: ~70% bulk to local/open, ~10% premium reasoning to Claude.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Q4_K_M sizing: 8B ~6 GB, 14B ~11 GB, 70B ~46 GB, 72B ~50 GB.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09728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Calibri"/>
              </a:rPr>
              <a:t>Wire Claude Code to Ollama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417320"/>
            <a:ext cx="4297680" cy="42062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# pull a fast worker model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ollama pull llama3.1:8b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# enable Anthropic-compatible mode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export ANTHROPIC_BASE_URL=http://localhost:11434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export ANTHROPIC_AUTH_TOKEN=ollama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export ANTHROPIC_API_KEY=''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# Claude Code now uses Ollama as the backend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claude --model llama3.1:8b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Local LLM VRAM footprint (Q4_K_M, 8k ctx)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3675" y="105156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3675" y="1188720"/>
            <a:ext cx="233172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3400" b="1">
                <a:solidFill>
                  <a:srgbClr val="1F4E78"/>
                </a:solidFill>
                <a:latin typeface="Calibri"/>
              </a:rPr>
              <a:t>~6 GB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3675" y="2011680"/>
            <a:ext cx="2331720" cy="64008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Llama 3.1 8B VRAM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29987" y="105156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29987" y="1188720"/>
            <a:ext cx="233172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3400" b="1">
                <a:solidFill>
                  <a:srgbClr val="1F4E78"/>
                </a:solidFill>
                <a:latin typeface="Calibri"/>
              </a:rPr>
              <a:t>~46 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9987" y="2011680"/>
            <a:ext cx="2331720" cy="64008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Llama 3.3 70B VRAM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6299" y="105156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6299" y="1188720"/>
            <a:ext cx="233172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3400" b="1">
                <a:solidFill>
                  <a:srgbClr val="1F4E78"/>
                </a:solidFill>
                <a:latin typeface="Calibri"/>
              </a:rPr>
              <a:t>98.75%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6299" y="2011680"/>
            <a:ext cx="2331720" cy="64008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tokens saved (file ops)</a:t>
            </a:r>
          </a:p>
        </p:txBody>
      </p:sp>
      <p:pic>
        <p:nvPicPr>
          <p:cNvPr id="13" name="Picture 12" descr="local-llm-collaboration-v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647" y="2606040"/>
            <a:ext cx="6502400" cy="3657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309360"/>
            <a:ext cx="111556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100" i="1">
                <a:solidFill>
                  <a:srgbClr val="666666"/>
                </a:solidFill>
                <a:latin typeface="Calibri"/>
              </a:rPr>
              <a:t>12.6x spread between 8B and 72B class — flagged as outlier.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Hybrid topology: planner, worker, spine,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76656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MCP spec 2025-11-25: async Tasks, server-side loops, parallel calls.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LiteLLM: one OpenAI-compatible gateway in front of 100+ providers.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Opus 4.7 (1M ctx) plans/critiques; Llama 3.1 8B (128k) does bulk work.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Watch out: Ollama default ctx is 2048 - silent truncation in pipelines.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Hooks gate tool calls; headless 'claude -p' fits GitHub Actions / cron.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Anti-hallucination: never read finance facts from parametric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09728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Calibri"/>
              </a:rPr>
              <a:t>Hooks + headless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417320"/>
            <a:ext cx="4297680" cy="42062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# .claude/settings.json (excerpt)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"hooks": {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"PostToolUse": [{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  "matcher": {"tool": "Bash"},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  "command": "scripts/audit_tool_call.py"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}]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# headless run, exits on completion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claude -p 'Run TSLA daily brief; write to artifacts/'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grounding matters: finance hallucination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3675" y="105156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3675" y="1188720"/>
            <a:ext cx="233172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3400" b="1">
                <a:solidFill>
                  <a:srgbClr val="1F4E78"/>
                </a:solidFill>
                <a:latin typeface="Calibri"/>
              </a:rPr>
              <a:t>41%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3675" y="2011680"/>
            <a:ext cx="2331720" cy="64008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ungrounded finance error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29987" y="105156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29987" y="1188720"/>
            <a:ext cx="233172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3400" b="1">
                <a:solidFill>
                  <a:srgbClr val="1F4E78"/>
                </a:solidFill>
                <a:latin typeface="Calibri"/>
              </a:rPr>
              <a:t>60-80%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9987" y="2011680"/>
            <a:ext cx="2331720" cy="64008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reduction with RAG/tools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6299" y="1051560"/>
            <a:ext cx="2331720" cy="1417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6299" y="1188720"/>
            <a:ext cx="233172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3400" b="1">
                <a:solidFill>
                  <a:srgbClr val="1F4E78"/>
                </a:solidFill>
                <a:latin typeface="Calibri"/>
              </a:rPr>
              <a:t>64.4%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6299" y="2011680"/>
            <a:ext cx="2331720" cy="64008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Opus 4.7 Finance Agent v1.1</a:t>
            </a:r>
          </a:p>
        </p:txBody>
      </p:sp>
      <p:pic>
        <p:nvPicPr>
          <p:cNvPr id="13" name="Picture 12" descr="hybrid-architecture-halluc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647" y="2606040"/>
            <a:ext cx="6502400" cy="3657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309360"/>
            <a:ext cx="111556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100" i="1">
                <a:solidFill>
                  <a:srgbClr val="666666"/>
                </a:solidFill>
                <a:latin typeface="Calibri"/>
              </a:rPr>
              <a:t>60-80% reduction with RAG/tool grounding (QuantMCP pattern).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Outliers, contradictions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11277295" cy="13258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52728"/>
            <a:ext cx="1280160" cy="411480"/>
          </a:xfrm>
          <a:prstGeom prst="roundRect">
            <a:avLst>
              <a:gd name="adj" fmla="val 50000"/>
            </a:avLst>
          </a:prstGeom>
          <a:solidFill>
            <a:srgbClr val="C85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  <a:latin typeface="Calibri"/>
              </a:rPr>
              <a:t>low confidence conflict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143000"/>
            <a:ext cx="96012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1">
                <a:solidFill>
                  <a:srgbClr val="1F4E78"/>
                </a:solidFill>
                <a:latin typeface="Calibri"/>
              </a:rPr>
              <a:t>local-llm-collaboration  ·  claude-code-capabilities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1A"/>
                </a:solidFill>
                <a:latin typeface="Calibri"/>
              </a:rPr>
              <a:t>The local-llm-collaboration drilldown (medium confidence) cites Claude Sonnet 4.5 at $3 input / $15 output per 1M tokens as the current Claude reference for cost arbitrage, while the claude-code-capabilities drilldown (high confidence) states that the current model line is Sonnet 4.6 at those same $3/$15 prices and explicitly notes Sonnet 4.5 belonged to...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11277295" cy="13258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624328"/>
            <a:ext cx="1280160" cy="411480"/>
          </a:xfrm>
          <a:prstGeom prst="roundRect">
            <a:avLst>
              <a:gd name="adj" fmla="val 50000"/>
            </a:avLst>
          </a:prstGeom>
          <a:solidFill>
            <a:srgbClr val="4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  <a:latin typeface="Calibri"/>
              </a:rPr>
              <a:t>contradiction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514600"/>
            <a:ext cx="96012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1">
                <a:solidFill>
                  <a:srgbClr val="1F4E78"/>
                </a:solidFill>
                <a:latin typeface="Calibri"/>
              </a:rPr>
              <a:t>claude-code-capabilities  ·  claude-agent-sdk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1A"/>
                </a:solidFill>
                <a:latin typeface="Calibri"/>
              </a:rPr>
              <a:t>claude-code-capabilities data point 0 and claude-agent-sdk data point 11 both report Claude Opus 4.7 input at $5 per MTok and output at $25 per MTok, while every other Anthropic price reference in the corpus pegs Opus-tier models at materially higher figures historically; both subtopics cite the same canonical pricing page so they agree with each other, b...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94760"/>
            <a:ext cx="11277295" cy="13258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995928"/>
            <a:ext cx="1280160" cy="411480"/>
          </a:xfrm>
          <a:prstGeom prst="roundRect">
            <a:avLst>
              <a:gd name="adj" fmla="val 50000"/>
            </a:avLst>
          </a:prstGeom>
          <a:solidFill>
            <a:srgbClr val="4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  <a:latin typeface="Calibri"/>
              </a:rPr>
              <a:t>stat outlier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86200"/>
            <a:ext cx="96012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1">
                <a:solidFill>
                  <a:srgbClr val="1F4E78"/>
                </a:solidFill>
                <a:latin typeface="Calibri"/>
              </a:rPr>
              <a:t>local-llm-collaboration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1A"/>
                </a:solidFill>
                <a:latin typeface="Calibri"/>
              </a:rPr>
              <a:t>Across the local-LLM VRAM data points in local-llm-collaboration (4 GB, 6.2 GB, 11 GB, 45.6 GB, 50.5 GB at Q4_K_M, 8k context), the max-to-min ratio is 12.6x, exceeding the 10x heuristic for stat outliers. The 70B/72B-class models (Llama 3.3 70B at 45.6 GB and Qwen 2.5 72B at 50.5 GB) sit far above the 8B/14B cluster. The spread is decision-relevant: it d...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66360"/>
            <a:ext cx="11277295" cy="13258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5367528"/>
            <a:ext cx="1280160" cy="411480"/>
          </a:xfrm>
          <a:prstGeom prst="roundRect">
            <a:avLst>
              <a:gd name="adj" fmla="val 50000"/>
            </a:avLst>
          </a:prstGeom>
          <a:solidFill>
            <a:srgbClr val="C85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064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  <a:latin typeface="Calibri"/>
              </a:rPr>
              <a:t>low confidence conflict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257800"/>
            <a:ext cx="96012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1">
                <a:solidFill>
                  <a:srgbClr val="1F4E78"/>
                </a:solidFill>
                <a:latin typeface="Calibri"/>
              </a:rPr>
              <a:t>tsla-research-workflow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1A"/>
                </a:solidFill>
                <a:latin typeface="Calibri"/>
              </a:rPr>
              <a:t>tsla-research-workflow asserts (medium confidence) that TSLA's median 12-month analyst target is $398 with bull cases at $600 and bear cases at $247, implying a roughly +/-50% disagreement around the median. The same drilldown also reports (medium confidence) a P/E of ~357 vs a 12-month average of ~280, signaling extreme valuation. No high-confidence clai...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to start (concrete next steps)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Calibri"/>
              </a:rPr>
              <a:t>FIRST 30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85216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Install Claude Code; verify with 'claude --version'.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Pull a local worker model with Ollama.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Wire SEC EDGAR + a market-data MCP server.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Add a logging hook in settings.json.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Run a TSLA brief in headless mode and inspect artifacts.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8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Schedule a /loop or cron run for daily refresh.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00584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Calibri"/>
              </a:rPr>
              <a:t>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371600"/>
            <a:ext cx="5120640" cy="49377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# 1. Install the SDK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pip install claude-agent-sdk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# 2. Pull a worker model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ollama pull llama3.1:8b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# 3. Wire an MCP server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claude mcp add --scope project sec-edgar \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--transport stdio -- python sec.py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# 4. Headless brief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claude -p 'Brief TSLA Q1 2026; bull/base/bear' \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--output-format json &gt; brief.json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# 5. Recurring run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claude /loop 24h /tsla-brief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09728" bIns="109728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Sources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666666"/>
                </a:solidFill>
                <a:latin typeface="Calibri"/>
              </a:rPr>
              <a:t>run-20260503-210828-f48e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537960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666666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486400" cy="5212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200"/>
              </a:spcBef>
            </a:pPr>
            <a:r>
              <a:rPr sz="1200" b="1">
                <a:solidFill>
                  <a:srgbClr val="1F4E78"/>
                </a:solidFill>
                <a:latin typeface="Calibri"/>
              </a:rPr>
              <a:t>claude-code-capabilities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https://code.claude.com/docs/en/sub-agents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https://code.claude.com/docs/en/skills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https://code.claude.com/docs/en/mcp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https://code.claude.com/docs/en/hooks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https://platform.claude.com/docs/en/about-claude/pricing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https://mikhail.io/2025/10/claude-code-web-tools/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https://claudelog.com/mechanics/plan-mode/</a:t>
            </a:r>
          </a:p>
          <a:p>
            <a:r>
              <a:rPr sz="400"/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F4E78"/>
                </a:solidFill>
                <a:latin typeface="Calibri"/>
              </a:rPr>
              <a:t>tsla-research-workflow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https://electrek.co/2026/04/22/tesla-tsla-q1-2026-financial-results/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https://carboncredits.com/tesla-reports-first-ever-annual-revenue-drop-in-2025-carbon-credit-sales-also-dip-28/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https://www.tesery.com/blogs/news/tesla-reports-q4-and-full-year-2025-financial-results-energy-storage-deploys-record-growth-while-automotive-figures-reflect-market-stabilization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https://www.tesery.com/blogs/news/tesla-confirms-aggressive-robotaxi-expansion-to-seven-major-us-cities-in-first-half-of-2026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https://247wallst.com/investing/2026/04/07/wall-street-sees-22-upside-for-tesla-tsla-this-year/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https://www.sec.gov/search-filings/edgar-application-programming-interfaces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https://www.nb-data.com/p/best-financial-data-apis-in-2026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https://github.com/quant-sentiment-ai/claude-equity-research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https://www.stocktitan.net/sec-filings/TSLA/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https://www.macrotrends.net/stocks/charts/TSLA/tesla/pe-ratio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https://www.tipranks.com/news/tesla-stock-tsla-battles-500-as-bulls-and-bears-clash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https://eletric-vehicles.com/tesla/tesla-ramps-unsupervised-robotaxi-fleet-to-25-vehicles/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https://www.heygotrade.com/en/blog/tesla-q1-2026-earnings-recap/</a:t>
            </a:r>
          </a:p>
          <a:p>
            <a:r>
              <a:rPr sz="400"/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51560"/>
            <a:ext cx="5486400" cy="5212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200"/>
              </a:spcBef>
            </a:pPr>
            <a:r>
              <a:rPr sz="1200" b="1">
                <a:solidFill>
                  <a:srgbClr val="1F4E78"/>
                </a:solidFill>
                <a:latin typeface="Calibri"/>
              </a:rPr>
              <a:t>claude-agent-sdk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https://pypi.org/project/claude-agent-sdk/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https://github.com/anthropics/claude-agent-sdk-python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https://github.com/anthropics/claude-agent-sdk-typescript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https://code.claude.com/docs/en/agent-sdk/overview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https://code.claude.com/docs/en/agent-sdk/streaming-output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https://platform.claude.com/docs/en/agent-sdk/custom-tools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https://platform.claude.com/docs/en/agent-sdk/mcp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https://platform.claude.com/docs/en/build-with-claude/prompt-caching</a:t>
            </a:r>
          </a:p>
          <a:p>
            <a:r>
              <a:rPr sz="400"/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F4E78"/>
                </a:solidFill>
                <a:latin typeface="Calibri"/>
              </a:rPr>
              <a:t>local-llm-collaboration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https://docs.ollama.com/api/openai-compatibility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https://docs.ollama.com/integrations/claude-code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https://lmstudio.ai/docs/developer/openai-compat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https://github.com/ggml-org/llama.cpp/blob/master/tools/server/README.md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https://github.com/Jadael/OllamaClaude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https://localllm.in/blog/ollama-vram-requirements-for-local-llms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https://github.com/vllm-project/vllm/blob/main/docs/serving/openai_compatible_server.md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https://costgoat.com/compare/llm-api</a:t>
            </a:r>
          </a:p>
          <a:p>
            <a:r>
              <a:rPr sz="400"/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F4E78"/>
                </a:solidFill>
                <a:latin typeface="Calibri"/>
              </a:rPr>
              <a:t>hybrid-architecture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https://modelcontextprotocol.io/specification/2025-11-25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https://github.com/BerriAI/litellm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https://platform.claude.com/docs/en/about-claude/models/whats-new-claude-4-7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https://code.claude.com/docs/en/hooks-guide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https://lobehub.com/mcp/aplaceforallmystuff-mcp-local-llm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https://localaimaster.com/models/llama-3-1-8b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https://www.promptquorum.com/local-llms/long-context-local-llms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https://www.codewithseb.com/blog/claude-code-headless-mode-cicd-automation-playbook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https://www.packtpub.com/en-us/newsletters/how-to-tutorials/detecting-addressing-llm-hallucinations-in-finance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https://masterofcode.com/blog/hallucinations-in-llms-what-you-need-to-know-before-integration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https://arxiv.org/html/2506.06622v1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https://www.kunalganglani.com/blog/local-llm-vs-claude-coding-benchmark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1A"/>
                </a:solidFill>
                <a:latin typeface="Consolas"/>
              </a:rPr>
              <a:t>https://llm-stats.com/blog/research/claude-opus-4-7-launch</a:t>
            </a:r>
          </a:p>
          <a:p>
            <a:r>
              <a:rPr sz="400"/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100" i="1">
                <a:solidFill>
                  <a:srgbClr val="666666"/>
                </a:solidFill>
                <a:latin typeface="Calibri"/>
              </a:rPr>
              <a:t>Full machine-readable corpus: drilldown/*.json, outliers.json, report.xlsx in run-20260503-210828-f48e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